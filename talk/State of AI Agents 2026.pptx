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1.06322" TargetMode="External"/><Relationship Id="rId3" Type="http://schemas.openxmlformats.org/officeDocument/2006/relationships/hyperlink" Target="https://arxiv.org/abs/2503.13657" TargetMode="External"/><Relationship Id="rId4" Type="http://schemas.openxmlformats.org/officeDocument/2006/relationships/hyperlink" Target="https://www.anthropic.com/engineering/multi-agent-research-system" TargetMode="External"/><Relationship Id="rId5" Type="http://schemas.openxmlformats.org/officeDocument/2006/relationships/hyperlink" Target="https://research.google/blog/towards-a-science-of-scaling-agent-systems-when-and-why-agent-systems-work/" TargetMode="External"/><Relationship Id="rId6" Type="http://schemas.openxmlformats.org/officeDocument/2006/relationships/hyperlink" Target="https://arxiv.org/abs/2601.01743" TargetMode="External"/><Relationship Id="rId7" Type="http://schemas.openxmlformats.org/officeDocument/2006/relationships/hyperlink" Target="https://flownet.com/ron/papers/tla.pdf" TargetMode="External"/><Relationship Id="rId8" Type="http://schemas.openxmlformats.org/officeDocument/2006/relationships/hyperlink" Target="https://www.anthropic.com/engineering/building-effective-agents" TargetMode="External"/><Relationship Id="rId9" Type="http://schemas.openxmlformats.org/officeDocument/2006/relationships/hyperlink" Target="https://www.anthropic.com/engineering/effective-context-engineering-for-ai-agent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411.04468" TargetMode="External"/><Relationship Id="rId3" Type="http://schemas.openxmlformats.org/officeDocument/2006/relationships/hyperlink" Target="https://arxiv.org/abs/2502.02533" TargetMode="External"/><Relationship Id="rId4" Type="http://schemas.openxmlformats.org/officeDocument/2006/relationships/hyperlink" Target="https://claude.com/blog/multi-agent-coordination-patterns" TargetMode="External"/><Relationship Id="rId5" Type="http://schemas.openxmlformats.org/officeDocument/2006/relationships/hyperlink" Target="https://developers.googleblog.com/developers-guide-to-multi-agent-patterns-in-adk/" TargetMode="External"/><Relationship Id="rId6" Type="http://schemas.openxmlformats.org/officeDocument/2006/relationships/hyperlink" Target="https://arxiv.org/abs/2502.01390" TargetMode="External"/><Relationship Id="rId7" Type="http://schemas.openxmlformats.org/officeDocument/2006/relationships/hyperlink" Target="https://arxiv.org/abs/2509.08646" TargetMode="External"/><Relationship Id="rId8" Type="http://schemas.openxmlformats.org/officeDocument/2006/relationships/hyperlink" Target="https://openai.com/index/unrolling-the-codex-agent-loop/" TargetMode="External"/><Relationship Id="rId9" Type="http://schemas.openxmlformats.org/officeDocument/2006/relationships/hyperlink" Target="https://www.anthropic.com/engineering/harness-design-long-running-app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2.00428" TargetMode="External"/><Relationship Id="rId3" Type="http://schemas.openxmlformats.org/officeDocument/2006/relationships/hyperlink" Target="https://arxiv.org/abs/2510.26585" TargetMode="External"/><Relationship Id="rId4" Type="http://schemas.openxmlformats.org/officeDocument/2006/relationships/hyperlink" Target="https://research.google/blog/reasoningbank-enabling-agents-to-learn-from-experience/" TargetMode="External"/><Relationship Id="rId5" Type="http://schemas.openxmlformats.org/officeDocument/2006/relationships/hyperlink" Target="https://agent.minimax.io/docs/techblog/agent-team" TargetMode="External"/><Relationship Id="rId6" Type="http://schemas.openxmlformats.org/officeDocument/2006/relationships/hyperlink" Target="https://arxiv.org/abs/2510.04618" TargetMode="External"/><Relationship Id="rId7" Type="http://schemas.openxmlformats.org/officeDocument/2006/relationships/hyperlink" Target="https://arxiv.org/abs/2604.09852" TargetMode="External"/><Relationship Id="rId8" Type="http://schemas.openxmlformats.org/officeDocument/2006/relationships/hyperlink" Target="https://www.anthropic.com/engineering/equipping-agents-for-the-real-world-with-agent-skills" TargetMode="External"/><Relationship Id="rId9" Type="http://schemas.openxmlformats.org/officeDocument/2006/relationships/hyperlink" Target="https://blog.cloudflare.com/introducing-agent-memory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4.16902" TargetMode="External"/><Relationship Id="rId3" Type="http://schemas.openxmlformats.org/officeDocument/2006/relationships/hyperlink" Target="https://safo-lab.github.io/A2ASecBench/" TargetMode="External"/><Relationship Id="rId4" Type="http://schemas.openxmlformats.org/officeDocument/2006/relationships/hyperlink" Target="https://a2a-protocol.org/v1.0.0/specification" TargetMode="External"/><Relationship Id="rId5" Type="http://schemas.openxmlformats.org/officeDocument/2006/relationships/hyperlink" Target="https://developers.googleblog.com/en/developers-guide-to-ai-agent-protocols/" TargetMode="External"/><Relationship Id="rId6" Type="http://schemas.openxmlformats.org/officeDocument/2006/relationships/hyperlink" Target="https://arxiv.org/abs/2506.01056" TargetMode="External"/><Relationship Id="rId7" Type="http://schemas.openxmlformats.org/officeDocument/2006/relationships/hyperlink" Target="https://arxiv.org/abs/2505.06416" TargetMode="External"/><Relationship Id="rId8" Type="http://schemas.openxmlformats.org/officeDocument/2006/relationships/hyperlink" Target="https://www.anthropic.com/engineering/code-execution-with-mcp" TargetMode="External"/><Relationship Id="rId9" Type="http://schemas.openxmlformats.org/officeDocument/2006/relationships/hyperlink" Target="https://blog.cloudflare.com/code-mode-mcp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2.18864" TargetMode="External"/><Relationship Id="rId3" Type="http://schemas.openxmlformats.org/officeDocument/2006/relationships/hyperlink" Target="https://aclanthology.org/2024.acl-long.810/" TargetMode="External"/><Relationship Id="rId4" Type="http://schemas.openxmlformats.org/officeDocument/2006/relationships/hyperlink" Target="https://www.anthropic.com/engineering/building-c-compiler" TargetMode="External"/><Relationship Id="rId5" Type="http://schemas.openxmlformats.org/officeDocument/2006/relationships/hyperlink" Target="https://cognitionai.mintlify.app/release-notes/overview" TargetMode="External"/><Relationship Id="rId6" Type="http://schemas.openxmlformats.org/officeDocument/2006/relationships/hyperlink" Target="https://arxiv.org/abs/2510.00615" TargetMode="External"/><Relationship Id="rId7" Type="http://schemas.openxmlformats.org/officeDocument/2006/relationships/hyperlink" Target="https://arxiv.org/abs/2605.23296" TargetMode="External"/><Relationship Id="rId8" Type="http://schemas.openxmlformats.org/officeDocument/2006/relationships/hyperlink" Target="https://www.anthropic.com/engineering/effective-harnesses-for-long-running-agents" TargetMode="External"/><Relationship Id="rId9" Type="http://schemas.openxmlformats.org/officeDocument/2006/relationships/hyperlink" Target="https://developers.googleblog.com/build-long-running-ai-agents-that-pause-resume-and-never-lose-context-with-adk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3.01935" TargetMode="External"/><Relationship Id="rId3" Type="http://schemas.openxmlformats.org/officeDocument/2006/relationships/hyperlink" Target="https://arxiv.org/abs/2511.05269" TargetMode="External"/><Relationship Id="rId4" Type="http://schemas.openxmlformats.org/officeDocument/2006/relationships/hyperlink" Target="https://www.anthropic.com/news/our-framework-for-developing-safe-and-trustworthy-agents" TargetMode="External"/><Relationship Id="rId5" Type="http://schemas.openxmlformats.org/officeDocument/2006/relationships/hyperlink" Target="https://www.anthropic.com/research/measuring-agent-autonomy" TargetMode="External"/><Relationship Id="rId6" Type="http://schemas.openxmlformats.org/officeDocument/2006/relationships/hyperlink" Target="https://arxiv.org/abs/2506.08837" TargetMode="External"/><Relationship Id="rId7" Type="http://schemas.openxmlformats.org/officeDocument/2006/relationships/hyperlink" Target="https://arxiv.org/abs/2406.13352" TargetMode="External"/><Relationship Id="rId8" Type="http://schemas.openxmlformats.org/officeDocument/2006/relationships/hyperlink" Target="https://www.anthropic.com/engineering/demystifying-evals-for-ai-agents" TargetMode="External"/><Relationship Id="rId9" Type="http://schemas.openxmlformats.org/officeDocument/2006/relationships/hyperlink" Target="https://www.anthropic.com/engineering/claude-code-sandbox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457200" cy="45720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7ABB2"/>
                </a:solidFill>
                <a:latin typeface="Calibri"/>
              </a:rPr>
              <a:t>INTERNAL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1" i="0" u="none">
                <a:solidFill>
                  <a:srgbClr val="F2F1EE"/>
                </a:solidFill>
                <a:latin typeface="Georgia"/>
              </a:rPr>
              <a:t>The State of AI Agents</a:t>
            </a:r>
          </a:p>
          <a:p>
            <a:pPr algn="l">
              <a:spcAft>
                <a:spcPts val="0"/>
              </a:spcAft>
            </a:pPr>
            <a:r>
              <a:rPr sz="2200" b="1" i="0" u="none">
                <a:solidFill>
                  <a:srgbClr val="A6192E"/>
                </a:solidFill>
                <a:latin typeface="Georgia"/>
              </a:rPr>
              <a:t>2026 — the next two chapters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u="none">
                <a:solidFill>
                  <a:srgbClr val="A7ABB2"/>
                </a:solidFill>
                <a:latin typeface="Calibri"/>
              </a:rPr>
              <a:t>Two lenses on one year, side by side:</a:t>
            </a:r>
          </a:p>
          <a:p>
            <a:pPr algn="l">
              <a:spcAft>
                <a:spcPts val="0"/>
              </a:spcAft>
            </a:pPr>
            <a:r>
              <a:rPr sz="1700" b="1" i="0" u="none">
                <a:solidFill>
                  <a:srgbClr val="F2F1EE"/>
                </a:solidFill>
                <a:latin typeface="Calibri"/>
              </a:rPr>
              <a:t>dividing the work</a:t>
            </a:r>
            <a:r>
              <a:rPr sz="1300" b="0" i="0" u="none">
                <a:solidFill>
                  <a:srgbClr val="A7ABB2"/>
                </a:solidFill>
                <a:latin typeface="Calibri"/>
              </a:rPr>
              <a:t> (multi-agent systems)</a:t>
            </a:r>
            <a:r>
              <a:rPr sz="1300" b="0" i="0" u="none">
                <a:solidFill>
                  <a:srgbClr val="A6192E"/>
                </a:solidFill>
                <a:latin typeface="Calibri"/>
              </a:rPr>
              <a:t>     |     </a:t>
            </a:r>
            <a:r>
              <a:rPr sz="1700" b="1" i="0" u="none">
                <a:solidFill>
                  <a:srgbClr val="F2F1EE"/>
                </a:solidFill>
                <a:latin typeface="Calibri"/>
              </a:rPr>
              <a:t>engineering the harness</a:t>
            </a:r>
            <a:r>
              <a:rPr sz="1300" b="0" i="0" u="none">
                <a:solidFill>
                  <a:srgbClr val="A7ABB2"/>
                </a:solidFill>
                <a:latin typeface="Calibri"/>
              </a:rPr>
              <a:t> (coding agents)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06440"/>
            <a:ext cx="1828800" cy="18288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u="none">
                <a:solidFill>
                  <a:srgbClr val="A7ABB2"/>
                </a:solidFill>
                <a:latin typeface="Calibri"/>
              </a:rPr>
              <a:t>Every slide is split MAS | Harness · each source links to the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A7ABB2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A7ABB2"/>
                </a:solidFill>
                <a:latin typeface="Calibri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u="none">
                <a:solidFill>
                  <a:srgbClr val="23262B"/>
                </a:solidFill>
                <a:latin typeface="Georgia"/>
              </a:rPr>
              <a:t>The Journey: From Prediction to Agency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 u="none">
                <a:solidFill>
                  <a:srgbClr val="6B7076"/>
                </a:solidFill>
                <a:latin typeface="Calibri"/>
              </a:rPr>
              <a:t>Where last year's talk ended — this is our starting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8105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Models predict the next token; reasoning is shaky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77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2677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Chain-of-Thought — “think step by step”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249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7249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Parse outputs → workflows → formal function calling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821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Structured outputs (reliable 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393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Tool use + loops = agents (ReAct; the paper was 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965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0965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Reasoning models — the “golden prompt” trained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537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5537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MCP — a universal tool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109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6192E"/>
                </a:solidFill>
                <a:latin typeface="Georgia"/>
              </a:rP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109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u="none">
                <a:solidFill>
                  <a:srgbClr val="23262B"/>
                </a:solidFill>
                <a:latin typeface="Calibri"/>
              </a:rPr>
              <a:t>Context engineering — managing what enters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331720"/>
            <a:ext cx="2103120" cy="2286000"/>
          </a:xfrm>
          <a:prstGeom prst="round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0656" y="2331720"/>
            <a:ext cx="169164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 u="none">
                <a:solidFill>
                  <a:srgbClr val="A6192E"/>
                </a:solidFill>
                <a:latin typeface="Georgia"/>
              </a:rPr>
              <a:t>2026 →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 u="none">
                <a:solidFill>
                  <a:srgbClr val="23262B"/>
                </a:solidFill>
                <a:latin typeface="Calibri"/>
              </a:rPr>
              <a:t>two tracks, side by side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 u="none">
                <a:solidFill>
                  <a:srgbClr val="23262B"/>
                </a:solidFill>
                <a:latin typeface="Calibri"/>
              </a:rPr>
              <a:t>division of labor  +  harness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23262B"/>
                </a:solidFill>
                <a:latin typeface="Georgia"/>
              </a:rPr>
              <a:t>Foundations: what &amp;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9904" y="1371600"/>
            <a:ext cx="12801" cy="3657600"/>
          </a:xfrm>
          <a:prstGeom prst="rect">
            <a:avLst/>
          </a:prstGeom>
          <a:solidFill>
            <a:srgbClr val="DC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2"/>
              </a:rPr>
              <a:t>Multi-Agent Collaboration Mechanisms: a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Tran et al. · arXiv ·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3"/>
              </a:rPr>
              <a:t>Why Do Multi-Agent LLM Systems Fail? (MAST)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Cemri et al. · NeurIPS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4"/>
              </a:rPr>
              <a:t>How we built our multi-agent research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5"/>
              </a:rPr>
              <a:t>Towards a science of scaling agent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Google Research ·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HARNESSES &amp; CODING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6"/>
              </a:rPr>
              <a:t>AI agent systems: architectures &amp; evaluation (survey)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7"/>
              </a:rPr>
              <a:t>On Three-Layer Architectures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Gat · 1998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8"/>
              </a:rPr>
              <a:t>Building effective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9"/>
              </a:rPr>
              <a:t>Effective context engineering for AI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23262B"/>
                </a:solidFill>
                <a:latin typeface="Georgia"/>
              </a:rPr>
              <a:t>Architecture &amp;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9904" y="1371600"/>
            <a:ext cx="12801" cy="3657600"/>
          </a:xfrm>
          <a:prstGeom prst="rect">
            <a:avLst/>
          </a:prstGeom>
          <a:solidFill>
            <a:srgbClr val="DC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2"/>
              </a:rPr>
              <a:t>Magentic-One: a generalist multi-agent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Fourney et al.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3"/>
              </a:rPr>
              <a:t>Multi-Agent Design: prompts &amp; topologies (MASS)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Zhou et al. ·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4"/>
              </a:rPr>
              <a:t>Multi-agent coordination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5"/>
              </a:rPr>
              <a:t>Developer's guide to multi-agent patterns in ADK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Google ·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HARNESSES &amp; CODING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6"/>
              </a:rPr>
              <a:t>Plan-Then-Execute: an empirical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7"/>
              </a:rPr>
              <a:t>Architecting Resilient LLM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8"/>
              </a:rPr>
              <a:t>Unrolling the Codex agent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OpenAI ·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9"/>
              </a:rPr>
              <a:t>Harness design for long-running app 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23262B"/>
                </a:solidFill>
                <a:latin typeface="Georgia"/>
              </a:rPr>
              <a:t>Context, memory &amp;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9904" y="1371600"/>
            <a:ext cx="12801" cy="3657600"/>
          </a:xfrm>
          <a:prstGeom prst="rect">
            <a:avLst/>
          </a:prstGeom>
          <a:solidFill>
            <a:srgbClr val="DC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2"/>
              </a:rPr>
              <a:t>When Agents Misremember Collectively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3"/>
              </a:rPr>
              <a:t>Stop Wasting Your Tokens: efficient runtime 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4"/>
              </a:rPr>
              <a:t>ReasoningBank: learning from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Google Research ·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5"/>
              </a:rPr>
              <a:t>MiniMax Agent Team: long-horizon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MiniMax ·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HARNESSES &amp; CODING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6"/>
              </a:rPr>
              <a:t>Agentic Context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7"/>
              </a:rPr>
              <a:t>MEMENTO: teaching LLMs to manage their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8"/>
              </a:rPr>
              <a:t>Agent Skills: equipping agents for the real world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9"/>
              </a:rPr>
              <a:t>Agents that remember: introducing Agent 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Cloudflare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23262B"/>
                </a:solidFill>
                <a:latin typeface="Georgia"/>
              </a:rPr>
              <a:t>Tools &amp; protocols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9904" y="1371600"/>
            <a:ext cx="12801" cy="3657600"/>
          </a:xfrm>
          <a:prstGeom prst="rect">
            <a:avLst/>
          </a:prstGeom>
          <a:solidFill>
            <a:srgbClr val="DC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2"/>
              </a:rPr>
              <a:t>Securing agentic apps with the A2A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3"/>
              </a:rPr>
              <a:t>A2ASecBench: agent-to-agent security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4"/>
              </a:rPr>
              <a:t>Agent2Agent (A2A) Protocol Specification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A2A Project ·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5"/>
              </a:rPr>
              <a:t>Developer's guide to AI agent protocols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Google ·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HARNESSES &amp; CODING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6"/>
              </a:rPr>
              <a:t>MCP-Zero: active tool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7"/>
              </a:rPr>
              <a:t>ScaleMCP: dynamic, auto-syncing MCP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8"/>
              </a:rPr>
              <a:t>Code execution with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9"/>
              </a:rPr>
              <a:t>Code Mode: an entire API in 1,000 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Cloudflare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23262B"/>
                </a:solidFill>
                <a:latin typeface="Georgia"/>
              </a:rPr>
              <a:t>Long-horizon &amp;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9904" y="1371600"/>
            <a:ext cx="12801" cy="3657600"/>
          </a:xfrm>
          <a:prstGeom prst="rect">
            <a:avLst/>
          </a:prstGeom>
          <a:solidFill>
            <a:srgbClr val="DC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2"/>
              </a:rPr>
              <a:t>Towards an AI Co-Scientist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3"/>
              </a:rPr>
              <a:t>ChatDev: communicative agents for software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ACL ·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4"/>
              </a:rPr>
              <a:t>Building a C compiler with parallel Claudes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5"/>
              </a:rPr>
              <a:t>Devin can now Manage Devins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Cognition ·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HARNESSES &amp; CODING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6"/>
              </a:rPr>
              <a:t>ACON: context compression for long-horizon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7"/>
              </a:rPr>
              <a:t>Parallel Context Compaction for long-horizon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8"/>
              </a:rPr>
              <a:t>Effective harnesses for long-running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9"/>
              </a:rPr>
              <a:t>Long-running agents that pause &amp; resume (ADK)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Google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u="none">
                <a:solidFill>
                  <a:srgbClr val="23262B"/>
                </a:solidFill>
                <a:latin typeface="Georgia"/>
              </a:rPr>
              <a:t>Evaluation &amp;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9904" y="1371600"/>
            <a:ext cx="12801" cy="3657600"/>
          </a:xfrm>
          <a:prstGeom prst="rect">
            <a:avLst/>
          </a:prstGeom>
          <a:solidFill>
            <a:srgbClr val="DC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2"/>
              </a:rPr>
              <a:t>MultiAgentBench: collaboration &amp;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Zhu et al. · ACL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3"/>
              </a:rPr>
              <a:t>TAMAS: adversarial risks in multi-agent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4"/>
              </a:rPr>
              <a:t>A framework for safe &amp; trustworthy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5"/>
              </a:rPr>
              <a:t>Measuring AI agent autonomy in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408176"/>
            <a:ext cx="128016" cy="128016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3716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u="none">
                <a:solidFill>
                  <a:srgbClr val="A6192E"/>
                </a:solidFill>
                <a:latin typeface="Calibri"/>
              </a:rPr>
              <a:t>HARNESSES &amp; CODING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4708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PAPERS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13969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6"/>
              </a:rPr>
              <a:t>Design patterns for securing LLM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0545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85292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81635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7"/>
              </a:rPr>
              <a:t>AgentDojo: evaluating prompt-injection attacks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1868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arXiv ·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6B7076"/>
                </a:solidFill>
                <a:latin typeface="Calibri"/>
              </a:rPr>
              <a:t>VENDOR  / 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77056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40480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8"/>
              </a:rPr>
              <a:t>Demystifying evals for AI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242816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590288"/>
            <a:ext cx="91440" cy="9144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553712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 i="0" u="sng">
                <a:solidFill>
                  <a:srgbClr val="9E1B2F"/>
                </a:solidFill>
                <a:latin typeface="Calibri"/>
                <a:hlinkClick r:id="rId9"/>
              </a:rPr>
              <a:t>Making Claude Code more secure (sandboxing)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560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6B7076"/>
                </a:solidFill>
                <a:latin typeface="Calibri"/>
              </a:rPr>
              <a:t>Anthropic ·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STATE OF AI AGENTS  ·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 u="none">
                <a:solidFill>
                  <a:srgbClr val="6B7076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